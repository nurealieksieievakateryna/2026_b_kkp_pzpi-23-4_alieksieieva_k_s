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70" r:id="rId5"/>
    <p:sldId id="259" r:id="rId6"/>
    <p:sldId id="260" r:id="rId7"/>
    <p:sldId id="261" r:id="rId8"/>
    <p:sldId id="263" r:id="rId9"/>
    <p:sldId id="265" r:id="rId10"/>
    <p:sldId id="267" r:id="rId11"/>
  </p:sldIdLst>
  <p:sldSz cx="9144000" cy="5143500" type="screen16x9"/>
  <p:notesSz cx="6858000" cy="9144000"/>
  <p:embeddedFontLst>
    <p:embeddedFont>
      <p:font typeface="Economica" panose="020B0604020202020204" charset="0"/>
      <p:regular r:id="rId13"/>
      <p:bold r:id="rId14"/>
      <p:italic r:id="rId15"/>
      <p:boldItalic r:id="rId16"/>
    </p:embeddedFont>
    <p:embeddedFont>
      <p:font typeface="Open Sans" panose="020B0606030504020204" pitchFamily="3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6" d="100"/>
          <a:sy n="116" d="100"/>
        </p:scale>
        <p:origin x="501" y="6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1013748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0ddf966691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0ddf966691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e16b2adad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e16b2adad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>
          <a:extLst>
            <a:ext uri="{FF2B5EF4-FFF2-40B4-BE49-F238E27FC236}">
              <a16:creationId xmlns:a16="http://schemas.microsoft.com/office/drawing/2014/main" id="{77C51BBA-AC98-6161-F05D-3E27DE685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e16b2adad1_0_0:notes">
            <a:extLst>
              <a:ext uri="{FF2B5EF4-FFF2-40B4-BE49-F238E27FC236}">
                <a16:creationId xmlns:a16="http://schemas.microsoft.com/office/drawing/2014/main" id="{EC46C88C-106E-CEC7-879C-0D8B5F6697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e16b2adad1_0_0:notes">
            <a:extLst>
              <a:ext uri="{FF2B5EF4-FFF2-40B4-BE49-F238E27FC236}">
                <a16:creationId xmlns:a16="http://schemas.microsoft.com/office/drawing/2014/main" id="{CB7C1C68-3EB8-5E17-B8D8-5437E7BE31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824734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e16b2adad1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e16b2adad1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e16b2adad1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e16b2adad1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e16b2adad1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e16b2adad1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e16b2adad1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e16b2adad1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16b2adad1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16b2adad1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e16b2adad1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e16b2adad1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7" name="Google Shape;17;p3"/>
          <p:cNvSpPr/>
          <p:nvPr/>
        </p:nvSpPr>
        <p:spPr>
          <a:xfrm rot="10800000" flipH="1">
            <a:off x="466425" y="35583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r>
              <a:rPr lang="uk-UA"/>
              <a:t>Клацніть, щоб редагувати стиль зразка заголовка</a:t>
            </a:r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Пустий слайд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‹№›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2661287" y="2246446"/>
            <a:ext cx="4452086" cy="43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90170" marR="88265" algn="ctr">
              <a:lnSpc>
                <a:spcPct val="96000"/>
              </a:lnSpc>
              <a:buNone/>
              <a:tabLst>
                <a:tab pos="752475" algn="l"/>
                <a:tab pos="6390005" algn="l"/>
              </a:tabLst>
            </a:pPr>
            <a:r>
              <a:rPr lang="uk-UA" sz="2400" u="sng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Розробка веб-застосунку </a:t>
            </a:r>
            <a:r>
              <a:rPr lang="uk-UA" sz="2400" u="sng" spc="-1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SkyIT</a:t>
            </a:r>
            <a:r>
              <a:rPr lang="uk-UA" sz="2400" u="sng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на основі </a:t>
            </a:r>
            <a:r>
              <a:rPr lang="uk-UA" sz="2400" u="sng" spc="-1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Spring</a:t>
            </a:r>
            <a:r>
              <a:rPr lang="uk-UA" sz="2400" u="sng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uk-UA" sz="2400" u="sng" spc="-1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Boot</a:t>
            </a:r>
            <a:r>
              <a:rPr lang="uk-UA" sz="2400" u="sng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та </a:t>
            </a:r>
            <a:r>
              <a:rPr lang="uk-UA" sz="2400" u="sng" spc="-1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React</a:t>
            </a:r>
            <a:r>
              <a:rPr lang="uk-UA" sz="2400" u="sng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для автоматизації підготовки до працевлаштування в ІТ-сфері</a:t>
            </a:r>
            <a:endParaRPr lang="uk-UA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xfrm>
            <a:off x="1951982" y="3493300"/>
            <a:ext cx="5087400" cy="153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600" dirty="0" err="1"/>
              <a:t>Алєксєєва</a:t>
            </a:r>
            <a:r>
              <a:rPr lang="uk-UA" sz="1600" dirty="0"/>
              <a:t> Катерина Сергіївна</a:t>
            </a:r>
            <a:r>
              <a:rPr lang="uk" sz="1600" dirty="0"/>
              <a:t>, ПЗПІ-23-4 </a:t>
            </a:r>
            <a:endParaRPr sz="1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dirty="0"/>
              <a:t>Керівник: </a:t>
            </a:r>
            <a:r>
              <a:rPr lang="uk" sz="1500" dirty="0"/>
              <a:t>доц кафедри П</a:t>
            </a:r>
            <a:r>
              <a:rPr lang="uk-UA" sz="1500" dirty="0"/>
              <a:t>І Дмитро Колесников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uk-UA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10</a:t>
            </a:r>
            <a:r>
              <a:rPr lang="uk" dirty="0"/>
              <a:t> червня 2025</a:t>
            </a:r>
            <a:endParaRPr dirty="0"/>
          </a:p>
        </p:txBody>
      </p:sp>
      <p:pic>
        <p:nvPicPr>
          <p:cNvPr id="64" name="Google Shape;6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725" y="170825"/>
            <a:ext cx="2133975" cy="38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68504" y="170825"/>
            <a:ext cx="1924921" cy="43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Мета роботи</a:t>
            </a:r>
            <a:endParaRPr sz="3200" dirty="0"/>
          </a:p>
        </p:txBody>
      </p:sp>
      <p:sp>
        <p:nvSpPr>
          <p:cNvPr id="72" name="Google Shape;72;p14"/>
          <p:cNvSpPr txBox="1">
            <a:spLocks noGrp="1"/>
          </p:cNvSpPr>
          <p:nvPr>
            <p:ph type="body" idx="1"/>
          </p:nvPr>
        </p:nvSpPr>
        <p:spPr>
          <a:xfrm>
            <a:off x="311700" y="918400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114300" indent="0">
              <a:buNone/>
            </a:pPr>
            <a:r>
              <a:rPr lang="uk-U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Мета роботи</a:t>
            </a:r>
          </a:p>
          <a:p>
            <a:pPr marL="114300" indent="0">
              <a:buNone/>
            </a:pP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Розробити інформаційну систему </a:t>
            </a:r>
            <a:r>
              <a:rPr lang="uk-UA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SkyIT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для підготовки ІТ-фахівців до співбесід, пошуку вакансій та відстеження професійного розвитку шляхом надання навчальних матеріалів, тестових завдань, рекомендацій та персоналізованих дорожніх карт розвитку навичок.</a:t>
            </a:r>
          </a:p>
          <a:p>
            <a:pPr marL="114300" indent="0">
              <a:buNone/>
            </a:pPr>
            <a:r>
              <a:rPr lang="uk-U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Актуальність роботи</a:t>
            </a:r>
          </a:p>
          <a:p>
            <a:pPr marL="114300" indent="0">
              <a:buNone/>
            </a:pP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умовах стрімкого розвитку ІТ-галузі зростає потреба в ефективних інструментах для підготовки до працевлаштування. Багато кандидатів стикаються зі складнощами під час пошуку вакансій, оцінки власних знань та підготовки до технічних співбесід. Система </a:t>
            </a:r>
            <a:r>
              <a:rPr lang="uk-UA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SkyIT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дозволяє об'єднати ці процеси в єдиному середовищі та підвищити ефективність підготовки майбутніх ІТ-спеціалістів.</a:t>
            </a:r>
          </a:p>
        </p:txBody>
      </p:sp>
      <p:pic>
        <p:nvPicPr>
          <p:cNvPr id="73" name="Google Shape;7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93E68CA-DEF7-D32D-BFB6-7B402335F4C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2</a:t>
            </a:fld>
            <a:endParaRPr lang="uk-UA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311700" y="-124863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Аналіз проблеми (аналіз існуючих рішень) </a:t>
            </a:r>
            <a:endParaRPr sz="3200" dirty="0"/>
          </a:p>
        </p:txBody>
      </p:sp>
      <p:sp>
        <p:nvSpPr>
          <p:cNvPr id="79" name="Google Shape;79;p15"/>
          <p:cNvSpPr txBox="1">
            <a:spLocks noGrp="1"/>
          </p:cNvSpPr>
          <p:nvPr>
            <p:ph type="body" idx="1"/>
          </p:nvPr>
        </p:nvSpPr>
        <p:spPr>
          <a:xfrm>
            <a:off x="311700" y="79561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None/>
            </a:pPr>
            <a:r>
              <a:rPr lang="uk-UA" b="1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Прогалини існуючих рішень</a:t>
            </a:r>
          </a:p>
          <a:p>
            <a:pPr marL="114300" indent="0">
              <a:buNone/>
            </a:pPr>
            <a:r>
              <a:rPr lang="uk-UA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Відсутність єдиної платформи для підготовки та пошуку роботи. </a:t>
            </a:r>
          </a:p>
          <a:p>
            <a:pPr marL="114300" indent="0">
              <a:buNone/>
            </a:pPr>
            <a:r>
              <a:rPr lang="uk-UA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Недостатня персоналізація навчання. </a:t>
            </a:r>
          </a:p>
          <a:p>
            <a:pPr marL="114300" indent="0">
              <a:buNone/>
            </a:pPr>
            <a:r>
              <a:rPr lang="uk-UA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Відсутність індивідуальних </a:t>
            </a:r>
            <a:r>
              <a:rPr lang="uk-UA" dirty="0" err="1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roadmap</a:t>
            </a:r>
            <a:r>
              <a:rPr lang="uk-UA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навичок. </a:t>
            </a:r>
          </a:p>
          <a:p>
            <a:pPr marL="114300" indent="0">
              <a:buNone/>
            </a:pPr>
            <a:r>
              <a:rPr lang="uk-UA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Обмежений контроль прогресу користувача.</a:t>
            </a:r>
            <a:endParaRPr lang="en-US" dirty="0"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>
              <a:buNone/>
            </a:pPr>
            <a:r>
              <a:rPr lang="uk-U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Аналіз проблеми</a:t>
            </a:r>
          </a:p>
          <a:p>
            <a:pPr marL="114300" indent="0">
              <a:buNone/>
            </a:pP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Користувачам доводиться використовувати кілька різних сервісів для підготовки до співбесід, пошуку вакансій та розвитку навичок. </a:t>
            </a:r>
            <a:r>
              <a:rPr lang="uk-UA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SkyIT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об'єднує ці можливості в одній системі, спрощуючи процес підготовки до працевлаштування в IT.</a:t>
            </a:r>
          </a:p>
          <a:p>
            <a:pPr marL="114300" indent="0">
              <a:buNone/>
            </a:pPr>
            <a:endParaRPr lang="uk-UA" dirty="0"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B62475D-5E0B-A5AC-3922-2970FC56A64D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3</a:t>
            </a:fld>
            <a:endParaRPr lang="uk-UA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>
          <a:extLst>
            <a:ext uri="{FF2B5EF4-FFF2-40B4-BE49-F238E27FC236}">
              <a16:creationId xmlns:a16="http://schemas.microsoft.com/office/drawing/2014/main" id="{AC1B673B-9234-142B-FC68-9F3423552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78;p15">
            <a:extLst>
              <a:ext uri="{FF2B5EF4-FFF2-40B4-BE49-F238E27FC236}">
                <a16:creationId xmlns:a16="http://schemas.microsoft.com/office/drawing/2014/main" id="{CB426B97-53B1-5BBF-3F56-579ECC5DFF28}"/>
              </a:ext>
            </a:extLst>
          </p:cNvPr>
          <p:cNvSpPr txBox="1">
            <a:spLocks/>
          </p:cNvSpPr>
          <p:nvPr/>
        </p:nvSpPr>
        <p:spPr>
          <a:xfrm>
            <a:off x="3685497" y="2060309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Coursera</a:t>
            </a:r>
            <a:endParaRPr lang="ru-RU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Google Shape;78;p15">
            <a:extLst>
              <a:ext uri="{FF2B5EF4-FFF2-40B4-BE49-F238E27FC236}">
                <a16:creationId xmlns:a16="http://schemas.microsoft.com/office/drawing/2014/main" id="{82F52848-4495-FB28-A73A-E0E8FEE95F31}"/>
              </a:ext>
            </a:extLst>
          </p:cNvPr>
          <p:cNvSpPr txBox="1">
            <a:spLocks/>
          </p:cNvSpPr>
          <p:nvPr/>
        </p:nvSpPr>
        <p:spPr>
          <a:xfrm>
            <a:off x="354475" y="2332321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uk-UA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LinkedIn</a:t>
            </a:r>
            <a:endParaRPr lang="ru-RU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" name="Google Shape;78;p15">
            <a:extLst>
              <a:ext uri="{FF2B5EF4-FFF2-40B4-BE49-F238E27FC236}">
                <a16:creationId xmlns:a16="http://schemas.microsoft.com/office/drawing/2014/main" id="{3DF2B7AC-EAFA-15A8-E962-CEEE01759BD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-124863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lvl="0"/>
            <a:r>
              <a:rPr lang="uk" sz="3200" dirty="0"/>
              <a:t>Аналіз проблеми (аналіз існуючих рішень) </a:t>
            </a:r>
            <a:endParaRPr sz="3200" dirty="0"/>
          </a:p>
        </p:txBody>
      </p:sp>
      <p:pic>
        <p:nvPicPr>
          <p:cNvPr id="80" name="Google Shape;80;p15">
            <a:extLst>
              <a:ext uri="{FF2B5EF4-FFF2-40B4-BE49-F238E27FC236}">
                <a16:creationId xmlns:a16="http://schemas.microsoft.com/office/drawing/2014/main" id="{5C97DE4E-465F-46F2-AB17-8D215B05A8D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FEFAC42-1D5B-09A8-2C46-383CC8B98C4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4</a:t>
            </a:fld>
            <a:endParaRPr lang="uk-UA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22121B-5EDD-C5A6-10C8-FC103A61BAC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68925" y="953213"/>
            <a:ext cx="2742984" cy="1714500"/>
          </a:xfrm>
          <a:prstGeom prst="rect">
            <a:avLst/>
          </a:prstGeom>
          <a:noFill/>
          <a:ln w="9525" cmpd="sng">
            <a:solidFill>
              <a:srgbClr val="000000"/>
            </a:solidFill>
            <a:miter lim="800000"/>
            <a:headEnd/>
            <a:tailEnd/>
          </a:ln>
          <a:effectLst/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71BDA34E-A0DE-CA0E-1912-435793E6AFF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514824" y="953213"/>
            <a:ext cx="3151432" cy="1772240"/>
          </a:xfrm>
          <a:prstGeom prst="rect">
            <a:avLst/>
          </a:prstGeom>
          <a:noFill/>
          <a:ln w="9525" cmpd="sng">
            <a:solidFill>
              <a:srgbClr val="000000"/>
            </a:solidFill>
            <a:miter lim="800000"/>
            <a:headEnd/>
            <a:tailEnd/>
          </a:ln>
          <a:effectLst/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E1F0800D-F26B-EC23-05D2-8AB572FFB13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739259" y="2939725"/>
            <a:ext cx="3067050" cy="1711112"/>
          </a:xfrm>
          <a:prstGeom prst="rect">
            <a:avLst/>
          </a:prstGeom>
          <a:noFill/>
          <a:ln w="9525" cmpd="sng">
            <a:solidFill>
              <a:srgbClr val="000000"/>
            </a:solidFill>
            <a:miter lim="800000"/>
            <a:headEnd/>
            <a:tailEnd/>
          </a:ln>
          <a:effectLst/>
        </p:spPr>
      </p:pic>
      <p:sp>
        <p:nvSpPr>
          <p:cNvPr id="7" name="Google Shape;78;p15">
            <a:extLst>
              <a:ext uri="{FF2B5EF4-FFF2-40B4-BE49-F238E27FC236}">
                <a16:creationId xmlns:a16="http://schemas.microsoft.com/office/drawing/2014/main" id="{60EFE4FB-0902-5922-F45C-5435CFDD2394}"/>
              </a:ext>
            </a:extLst>
          </p:cNvPr>
          <p:cNvSpPr txBox="1">
            <a:spLocks/>
          </p:cNvSpPr>
          <p:nvPr/>
        </p:nvSpPr>
        <p:spPr>
          <a:xfrm>
            <a:off x="6479897" y="2333861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marR="0" lvl="1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marR="0" lvl="2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marR="0" lvl="3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marR="0" lvl="4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marR="0" lvl="5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marR="0" lvl="6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marR="0" lvl="7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marR="0" lvl="8" algn="l" rtl="0" ea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 b="0" i="0" u="none" strike="noStrike" cap="non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LeetCode</a:t>
            </a:r>
            <a:endParaRPr lang="ru-RU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57109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-186276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Постановка задачі та опис системи</a:t>
            </a:r>
            <a:endParaRPr sz="3200" dirty="0"/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825262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indent="0">
              <a:buNone/>
            </a:pPr>
            <a:r>
              <a:rPr lang="uk-UA" b="1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</a:t>
            </a:r>
          </a:p>
          <a:p>
            <a:pPr marL="114300" indent="0">
              <a:buNone/>
            </a:pPr>
            <a:r>
              <a:rPr lang="uk-UA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Відсутність єдиної платформи для підготовки до співбесід та пошуку роботи в IT.</a:t>
            </a:r>
          </a:p>
          <a:p>
            <a:pPr marL="114300" indent="0">
              <a:buNone/>
            </a:pPr>
            <a:r>
              <a:rPr lang="uk-UA" b="1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Очікувані результати</a:t>
            </a:r>
          </a:p>
          <a:p>
            <a:pPr marL="114300" indent="0">
              <a:buNone/>
            </a:pPr>
            <a:r>
              <a:rPr lang="uk-UA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Підготовка до співбесід. </a:t>
            </a:r>
          </a:p>
          <a:p>
            <a:pPr marL="114300" indent="0">
              <a:buNone/>
            </a:pPr>
            <a:r>
              <a:rPr lang="uk-UA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Пошук вакансій. </a:t>
            </a:r>
          </a:p>
          <a:p>
            <a:pPr marL="114300" indent="0">
              <a:buNone/>
            </a:pPr>
            <a:r>
              <a:rPr lang="uk-UA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Розвиток професійних навичок. </a:t>
            </a:r>
          </a:p>
          <a:p>
            <a:pPr marL="114300" indent="0">
              <a:buNone/>
            </a:pPr>
            <a:r>
              <a:rPr lang="uk-UA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Відстеження прогресу. </a:t>
            </a:r>
          </a:p>
          <a:p>
            <a:pPr marL="114300" indent="0">
              <a:buNone/>
            </a:pPr>
            <a:r>
              <a:rPr lang="uk-UA" b="1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Опис системи</a:t>
            </a:r>
          </a:p>
          <a:p>
            <a:pPr marL="114300" indent="0">
              <a:buNone/>
            </a:pPr>
            <a:r>
              <a:rPr lang="uk-UA" b="1" dirty="0" err="1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SkyIT</a:t>
            </a:r>
            <a:r>
              <a:rPr lang="uk-UA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uk-UA" dirty="0" err="1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вебплатформа</a:t>
            </a:r>
            <a:r>
              <a:rPr lang="uk-UA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для підготовки до працевлаштування в IT, що поєднує навчання, вакансії, аналіз резюме та </a:t>
            </a:r>
            <a:r>
              <a:rPr lang="uk-UA" dirty="0" err="1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roadmap</a:t>
            </a:r>
            <a:r>
              <a:rPr lang="uk-UA" dirty="0"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розвитку навичок.</a:t>
            </a:r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23D9805-068E-FE7E-BC9A-0C410D68B73B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5</a:t>
            </a:fld>
            <a:endParaRPr lang="uk-UA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>
            <a:spLocks noGrp="1"/>
          </p:cNvSpPr>
          <p:nvPr>
            <p:ph type="title"/>
          </p:nvPr>
        </p:nvSpPr>
        <p:spPr>
          <a:xfrm>
            <a:off x="311700" y="-148309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Вибір технологій розробки </a:t>
            </a:r>
            <a:endParaRPr sz="3200" dirty="0"/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43E912-C721-1128-5F72-D9BB9BCF5CCA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6</a:t>
            </a:fld>
            <a:endParaRPr lang="uk-UA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C21DD33-D559-C8CB-A90D-61A2A4EB9A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444" y="1542175"/>
            <a:ext cx="7796050" cy="2610942"/>
          </a:xfrm>
          <a:prstGeom prst="rect">
            <a:avLst/>
          </a:prstGeom>
        </p:spPr>
      </p:pic>
      <p:pic>
        <p:nvPicPr>
          <p:cNvPr id="1026" name="Picture 2" descr="Spring Boot Icon SVG Vector &amp; PNG Free Download | UXWing">
            <a:extLst>
              <a:ext uri="{FF2B5EF4-FFF2-40B4-BE49-F238E27FC236}">
                <a16:creationId xmlns:a16="http://schemas.microsoft.com/office/drawing/2014/main" id="{623A4802-1FA7-1158-47BA-10A15C2F60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1242" y="824862"/>
            <a:ext cx="575442" cy="575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AutoShape 4" descr="React Logo PNG Vector SVG (1.24 KB) Free Download">
            <a:extLst>
              <a:ext uri="{FF2B5EF4-FFF2-40B4-BE49-F238E27FC236}">
                <a16:creationId xmlns:a16="http://schemas.microsoft.com/office/drawing/2014/main" id="{BCA4A7E4-5232-FE92-DFB4-643B78D2FD2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sp>
        <p:nvSpPr>
          <p:cNvPr id="10" name="AutoShape 6" descr="React Logo PNG Vector SVG (1.24 KB) Free Download">
            <a:extLst>
              <a:ext uri="{FF2B5EF4-FFF2-40B4-BE49-F238E27FC236}">
                <a16:creationId xmlns:a16="http://schemas.microsoft.com/office/drawing/2014/main" id="{D3A8B1D9-2EE7-7158-EBB9-564134DFB9D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E14C30EE-9DE0-5E15-2509-B499CEF213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27685" y="822035"/>
            <a:ext cx="614352" cy="575442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A8E21409-4AA3-DDF2-789F-9018A06DAF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66492" y="835391"/>
            <a:ext cx="1347954" cy="436294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56BC9EBE-6AD7-8524-0579-65B5E09508C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38901" y="730947"/>
            <a:ext cx="609602" cy="645182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B00DE57F-8450-BB63-C621-641932579A0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5199" y="588453"/>
            <a:ext cx="717334" cy="8038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A55726-B906-08A2-C43F-1B00FCF5F354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7</a:t>
            </a:fld>
            <a:endParaRPr lang="uk-UA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ED62C7B-0235-69CA-1D1F-4EBFB7131D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8041" y="776453"/>
            <a:ext cx="6427918" cy="359059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C740445-0121-8C92-DB64-9519A24A2C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459" y="92468"/>
            <a:ext cx="7323082" cy="40906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>
            <a:spLocks noGrp="1"/>
          </p:cNvSpPr>
          <p:nvPr>
            <p:ph type="title"/>
          </p:nvPr>
        </p:nvSpPr>
        <p:spPr>
          <a:xfrm>
            <a:off x="311700" y="-9203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Дизайн системи</a:t>
            </a:r>
            <a:endParaRPr sz="3200" dirty="0"/>
          </a:p>
        </p:txBody>
      </p:sp>
      <p:sp>
        <p:nvSpPr>
          <p:cNvPr id="114" name="Google Shape;114;p20"/>
          <p:cNvSpPr txBox="1">
            <a:spLocks noGrp="1"/>
          </p:cNvSpPr>
          <p:nvPr>
            <p:ph type="body" idx="1"/>
          </p:nvPr>
        </p:nvSpPr>
        <p:spPr>
          <a:xfrm>
            <a:off x="311700" y="924544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buNone/>
            </a:pPr>
            <a:r>
              <a:rPr lang="uk-U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Методи дизайну системи </a:t>
            </a:r>
          </a:p>
          <a:p>
            <a:pPr marL="0" lvl="0" indent="0">
              <a:buNone/>
            </a:pP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Під час проєктування </a:t>
            </a:r>
            <a:r>
              <a:rPr lang="uk-UA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SkyIT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було використано об'єктно-орієнтований підхід, багатошарову архітектуру (</a:t>
            </a:r>
            <a:r>
              <a:rPr lang="uk-UA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uk-UA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Business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uk-UA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uk-UA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Layer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UML-моделювання та принципи модульної розробки для забезпечення масштабованості й </a:t>
            </a:r>
            <a:r>
              <a:rPr lang="uk-UA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підтримуваності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системи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uk-U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Послідовність проєктування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Аналіз вимог → Проєктування архітектури → Моделювання бази даних → Розробка API → Створення користувацького інтерфейсу → Інтеграція компонентів → Тестування системи.</a:t>
            </a:r>
          </a:p>
          <a:p>
            <a:pPr marL="0" lvl="0" indent="0">
              <a:buNone/>
            </a:pPr>
            <a:endParaRPr dirty="0"/>
          </a:p>
        </p:txBody>
      </p:sp>
      <p:pic>
        <p:nvPicPr>
          <p:cNvPr id="115" name="Google Shape;11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8624834-013E-7249-F488-C816A0DA935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8</a:t>
            </a:fld>
            <a:endParaRPr lang="uk-UA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268925" y="-14362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Інтерфейс користувача </a:t>
            </a:r>
            <a:endParaRPr sz="3200" dirty="0"/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8D948D-369C-B702-98D8-76BFF8794D1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9</a:t>
            </a:fld>
            <a:endParaRPr lang="uk-UA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4BA782E-668B-274D-9AAB-A09E9D5B32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925" y="1024581"/>
            <a:ext cx="2582108" cy="2575354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B272DFF-888C-4F12-2CAD-94070E4639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7795" y="687680"/>
            <a:ext cx="4234252" cy="2169176"/>
          </a:xfrm>
          <a:prstGeom prst="rect">
            <a:avLst/>
          </a:prstGeom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B1FFDBD3-F57E-B0F1-B535-5A58E9FD431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12248" y="3029086"/>
            <a:ext cx="3680296" cy="1885040"/>
          </a:xfrm>
          <a:prstGeom prst="rect">
            <a:avLst/>
          </a:prstGeom>
          <a:noFill/>
          <a:ln w="9525" cmpd="sng">
            <a:solidFill>
              <a:srgbClr val="000000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>
            <a:spLocks noGrp="1"/>
          </p:cNvSpPr>
          <p:nvPr>
            <p:ph type="title"/>
          </p:nvPr>
        </p:nvSpPr>
        <p:spPr>
          <a:xfrm>
            <a:off x="311700" y="-35287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Підсумки </a:t>
            </a:r>
            <a:endParaRPr sz="3200" dirty="0"/>
          </a:p>
        </p:txBody>
      </p:sp>
      <p:sp>
        <p:nvSpPr>
          <p:cNvPr id="142" name="Google Shape;142;p24"/>
          <p:cNvSpPr txBox="1">
            <a:spLocks noGrp="1"/>
          </p:cNvSpPr>
          <p:nvPr>
            <p:ph type="body" idx="1"/>
          </p:nvPr>
        </p:nvSpPr>
        <p:spPr>
          <a:xfrm>
            <a:off x="311700" y="900756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114300" indent="0">
              <a:buNone/>
            </a:pPr>
            <a:r>
              <a:rPr lang="uk-U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Реалістичність та корисність результатів</a:t>
            </a:r>
          </a:p>
          <a:p>
            <a:pPr marL="114300" indent="0">
              <a:buNone/>
            </a:pP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Розроблена система </a:t>
            </a:r>
            <a:r>
              <a:rPr lang="uk-UA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SkyIT</a:t>
            </a: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є працездатним програмним продуктом, який може використовуватись для підготовки до технічних співбесід, пошуку вакансій та розвитку професійних навичок.</a:t>
            </a:r>
          </a:p>
          <a:p>
            <a:pPr marL="114300" indent="0">
              <a:buNone/>
            </a:pPr>
            <a:r>
              <a:rPr lang="uk-U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Можливості використання</a:t>
            </a:r>
          </a:p>
          <a:p>
            <a:pPr marL="114300" indent="0">
              <a:buNone/>
            </a:pP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Підготовка до IT-співбесід. </a:t>
            </a:r>
          </a:p>
          <a:p>
            <a:pPr marL="114300" indent="0">
              <a:buNone/>
            </a:pP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Пошук актуальних вакансій. </a:t>
            </a:r>
          </a:p>
          <a:p>
            <a:pPr marL="114300" indent="0">
              <a:buNone/>
            </a:pP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Відстеження прогресу навчання. </a:t>
            </a:r>
          </a:p>
          <a:p>
            <a:pPr marL="114300" indent="0">
              <a:buNone/>
            </a:pP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Формування індивідуальних планів розвитку. </a:t>
            </a:r>
          </a:p>
          <a:p>
            <a:pPr marL="114300" indent="0">
              <a:buNone/>
            </a:pPr>
            <a:r>
              <a:rPr lang="uk-UA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Можливий розвиток програмного забезпечення</a:t>
            </a:r>
          </a:p>
          <a:p>
            <a:pPr marL="114300" indent="0">
              <a:buNone/>
            </a:pP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Інтеграція з платформами пошуку роботи. </a:t>
            </a:r>
          </a:p>
          <a:p>
            <a:pPr marL="114300" indent="0">
              <a:buNone/>
            </a:pP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Розширення AI-функціоналу. </a:t>
            </a:r>
          </a:p>
          <a:p>
            <a:pPr marL="114300" indent="0">
              <a:buNone/>
            </a:pP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Додавання онлайн-співбесід. </a:t>
            </a:r>
          </a:p>
          <a:p>
            <a:pPr marL="114300" indent="0">
              <a:buNone/>
            </a:pP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Розробка мобільного застосунку. </a:t>
            </a:r>
          </a:p>
          <a:p>
            <a:pPr marL="114300" indent="0">
              <a:buNone/>
            </a:pPr>
            <a:r>
              <a:rPr lang="uk-UA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Персоналізація рекомендацій на основі аналізу даних користувача. </a:t>
            </a:r>
          </a:p>
        </p:txBody>
      </p:sp>
      <p:pic>
        <p:nvPicPr>
          <p:cNvPr id="143" name="Google Shape;14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B5B94D8-63F6-7EAC-6461-2DB4B135596F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10</a:t>
            </a:fld>
            <a:endParaRPr lang="uk-UA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Шаблон презентації кваліфікаційної роботи магістрів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презентації кваліфікаційної роботи магістрів" id="{72E840FA-3155-46C9-BB37-701E4C9B1C67}" vid="{DC416FE5-D050-4603-AD75-8F49A0CCCB6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Шаблон_презентації_до_ККП_бакалавра_2025 (1)</Template>
  <TotalTime>1778</TotalTime>
  <Words>408</Words>
  <Application>Microsoft Office PowerPoint</Application>
  <PresentationFormat>Екран (16:9)</PresentationFormat>
  <Paragraphs>63</Paragraphs>
  <Slides>10</Slides>
  <Notes>10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10</vt:i4>
      </vt:variant>
    </vt:vector>
  </HeadingPairs>
  <TitlesOfParts>
    <vt:vector size="15" baseType="lpstr">
      <vt:lpstr>Times New Roman</vt:lpstr>
      <vt:lpstr>Arial</vt:lpstr>
      <vt:lpstr>Economica</vt:lpstr>
      <vt:lpstr>Open Sans</vt:lpstr>
      <vt:lpstr>Шаблон презентації кваліфікаційної роботи магістрів</vt:lpstr>
      <vt:lpstr>Розробка веб-застосунку SkyIT на основі Spring Boot та React для автоматизації підготовки до працевлаштування в ІТ-сфері</vt:lpstr>
      <vt:lpstr>Мета роботи</vt:lpstr>
      <vt:lpstr>Аналіз проблеми (аналіз існуючих рішень) </vt:lpstr>
      <vt:lpstr>Аналіз проблеми (аналіз існуючих рішень) </vt:lpstr>
      <vt:lpstr>Постановка задачі та опис системи</vt:lpstr>
      <vt:lpstr>Вибір технологій розробки </vt:lpstr>
      <vt:lpstr>Презентація PowerPoint</vt:lpstr>
      <vt:lpstr>Дизайн системи</vt:lpstr>
      <vt:lpstr>Інтерфейс користувача </vt:lpstr>
      <vt:lpstr>Підсумки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alekseeva.kate@outlook.com</dc:creator>
  <cp:lastModifiedBy>alekseeva.kate@outlook.com</cp:lastModifiedBy>
  <cp:revision>3</cp:revision>
  <dcterms:created xsi:type="dcterms:W3CDTF">2026-06-08T13:12:00Z</dcterms:created>
  <dcterms:modified xsi:type="dcterms:W3CDTF">2026-06-15T09:55:50Z</dcterms:modified>
</cp:coreProperties>
</file>